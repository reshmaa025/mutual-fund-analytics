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18E5-69E3-898E-6037-AE04D14CC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B7832-3D76-A64F-E3F3-7B55AFA30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3D418-53E2-B63E-7992-AE270613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3C97-172C-B940-B857-74DA0866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41705-CCD5-0472-AEA7-DB4ECBE8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4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D697-A3D7-E410-2383-7AC79687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C2FE3-DFA6-D2E1-2877-156ADD932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220E-05DE-BCEA-0354-728E6047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1D2A-C79C-E920-8E40-08AB8C6D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C9820-1A28-90C7-D8FC-A76F18F2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09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AED4-D00A-47A9-A813-5FCDC13C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E9F-A7F8-5E4B-9950-977714B44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680C-93EB-7897-BD6F-9AAED93A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8ED6-578D-F9E9-79EF-18266D0B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FA21-4944-3F02-DD65-5A653AC3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1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F455-846E-2A98-C6C5-E1466DCB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D2BB-3AEC-F18F-81AF-8362DC3A2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C42DA-F091-C40E-4281-ADD719187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6D9D4-95AC-DD3F-7C6E-04B8747F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5BD1D-049C-2B8F-1852-F81A9013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33B90-8314-67F3-90CC-AAC8063E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6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1B19-71F8-E694-1019-6B52341F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83F51-A7A5-BF36-33F8-D72C2E4F7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B8481-E18E-2CA6-F46F-89C1038D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942EF-556A-38F3-DA5A-7FA4B2AE2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97E87-9C70-B42F-13B0-723105FE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04D2B-A536-5CC3-11F2-315B50D9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D6750-9F3C-381C-4417-B0281C9E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53935-F97D-0573-D9F0-036672FD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3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A5E8-0609-0862-D32A-BE702758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DE056-AC88-53CF-F45A-57223AC6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42C52-3081-D6CD-6762-D0C9F5C6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3D119-5D83-E63C-8031-8B6762FC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8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AB42F-9A71-F49A-CABA-2B35EC69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69292-8DCC-4A3D-3470-EB0B447A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BFF95-3297-F3A0-D5A0-DF02AEEF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3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A035-6DB9-2B8B-7247-6B55EB3F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01B3A-7AFD-32B3-D292-7DE03F87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A9388-7C2E-E2E9-DAA3-90409D914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4D89F-07E6-EEE8-EC57-A5517F79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D26ED-5494-0B7E-E298-B8902AC1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3537D-834C-6DC9-8468-96FDC814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7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147E-46E7-EB2C-56B7-05F137430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556EA-C975-B51C-13C8-E897211BC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43E05-11D4-E9AF-02AF-FB20F5454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52C01-77C2-EC23-9C20-F564422B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6DE0B-AF2E-86FF-CA83-0D4A1AEC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05AD2-8AB9-4EAA-9D44-2D9114F6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75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F4BA-8986-C7B1-5608-FB41B503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4B3B1-C27A-F7B4-F029-ABE1F6A9A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3DCDE-047F-8F51-DA0E-2D5B2B39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3209B-F6B8-A22E-4D57-BCCE2B90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F2BD4-CCC9-C74B-2D82-6A34D12F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4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11567-50B2-D030-6FE2-A0B873893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AF74C-8C0B-D1E6-2D9F-C9B789248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D228C-3B64-C6E8-D7C5-676E6830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B16FB-414E-183B-D43B-5612DD2F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903D4-4D5A-3145-FA58-30C9E8C4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3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A1ACF-1EB0-5312-8FA4-1184E16A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837DF-61BC-6C5C-1A0A-FF1477E85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03542-E385-76A2-C53E-72995998A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E9118-ADAD-4B27-A070-66F54D711BA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0C8E-FDE1-E77C-85E7-45101F4F7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170B9-B2EA-F861-7354-C22A9516B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54712-286B-4390-A3A2-37FFC997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91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Financial graphs on a dark display">
            <a:extLst>
              <a:ext uri="{FF2B5EF4-FFF2-40B4-BE49-F238E27FC236}">
                <a16:creationId xmlns:a16="http://schemas.microsoft.com/office/drawing/2014/main" id="{DD50CBFA-41B5-14E2-6A90-5AA098A0C1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00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0245F-6BF8-AC6E-9F4D-61F798907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Bluestock Mutual Fund Analytics: Performance, Risk Analysis and Business Intelligence Dashboard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65C5C-F422-6228-EB6C-4FF8DFB8E9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4293441"/>
            <a:ext cx="6295332" cy="15885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Submitted By: Reshma J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Technology: Python, SQL, Power BI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Capstone Project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Submission Date 15</a:t>
            </a:r>
            <a:r>
              <a:rPr kumimoji="0" lang="en-US" altLang="en-US" sz="1700" b="0" i="0" u="none" strike="noStrike" cap="none" normalizeH="0" baseline="30000">
                <a:ln>
                  <a:noFill/>
                </a:ln>
                <a:solidFill>
                  <a:srgbClr val="FFFFFF"/>
                </a:solidFill>
                <a:effectLst/>
              </a:rPr>
              <a:t>th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June 2026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79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EF5B9E95-FE7F-43C5-A7D7-EA777E4DF5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316BE3-7049-83BA-E12B-0475E498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32BC9-4C67-008B-2D4C-B5CB2A6C5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n-IN" sz="2000" b="1">
                <a:solidFill>
                  <a:srgbClr val="FFFFFF"/>
                </a:solidFill>
              </a:rPr>
              <a:t>Problem Statement</a:t>
            </a:r>
          </a:p>
          <a:p>
            <a:r>
              <a:rPr lang="en-IN" sz="2000">
                <a:solidFill>
                  <a:srgbClr val="FFFFFF"/>
                </a:solidFill>
              </a:rPr>
              <a:t>Investors face challenges in evaluating mutual fund performance. </a:t>
            </a:r>
          </a:p>
          <a:p>
            <a:r>
              <a:rPr lang="en-IN" sz="2000">
                <a:solidFill>
                  <a:srgbClr val="FFFFFF"/>
                </a:solidFill>
              </a:rPr>
              <a:t>Large amounts of financial data make decision-making difficult. </a:t>
            </a:r>
          </a:p>
          <a:p>
            <a:r>
              <a:rPr lang="en-IN" sz="2000">
                <a:solidFill>
                  <a:srgbClr val="FFFFFF"/>
                </a:solidFill>
              </a:rPr>
              <a:t>Need for a centralized analytics and visualization solution. </a:t>
            </a:r>
          </a:p>
          <a:p>
            <a:r>
              <a:rPr lang="en-IN" sz="2000" b="1">
                <a:solidFill>
                  <a:srgbClr val="FFFFFF"/>
                </a:solidFill>
              </a:rPr>
              <a:t>Objectives</a:t>
            </a:r>
          </a:p>
          <a:p>
            <a:r>
              <a:rPr lang="en-IN" sz="2000">
                <a:solidFill>
                  <a:srgbClr val="FFFFFF"/>
                </a:solidFill>
              </a:rPr>
              <a:t>Build ETL pipeline. </a:t>
            </a:r>
          </a:p>
          <a:p>
            <a:r>
              <a:rPr lang="en-IN" sz="2000">
                <a:solidFill>
                  <a:srgbClr val="FFFFFF"/>
                </a:solidFill>
              </a:rPr>
              <a:t>Analyze mutual fund performance. </a:t>
            </a:r>
          </a:p>
          <a:p>
            <a:r>
              <a:rPr lang="en-IN" sz="2000">
                <a:solidFill>
                  <a:srgbClr val="FFFFFF"/>
                </a:solidFill>
              </a:rPr>
              <a:t>Calculate risk metrics. </a:t>
            </a:r>
          </a:p>
          <a:p>
            <a:r>
              <a:rPr lang="en-IN" sz="2000">
                <a:solidFill>
                  <a:srgbClr val="FFFFFF"/>
                </a:solidFill>
              </a:rPr>
              <a:t>Develop Power BI dashboard. </a:t>
            </a:r>
          </a:p>
          <a:p>
            <a:r>
              <a:rPr lang="en-IN" sz="2000">
                <a:solidFill>
                  <a:srgbClr val="FFFFFF"/>
                </a:solidFill>
              </a:rPr>
              <a:t>Generate actionable insights. </a:t>
            </a:r>
          </a:p>
          <a:p>
            <a:endParaRPr lang="en-IN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68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D0646-5C77-C1F8-51B9-BB3B1E70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3B4F79-4283-E827-4292-EB164706C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431589"/>
              </p:ext>
            </p:extLst>
          </p:nvPr>
        </p:nvGraphicFramePr>
        <p:xfrm>
          <a:off x="831558" y="2112579"/>
          <a:ext cx="10552825" cy="4192808"/>
        </p:xfrm>
        <a:graphic>
          <a:graphicData uri="http://schemas.openxmlformats.org/drawingml/2006/table">
            <a:tbl>
              <a:tblPr/>
              <a:tblGrid>
                <a:gridCol w="4316797">
                  <a:extLst>
                    <a:ext uri="{9D8B030D-6E8A-4147-A177-3AD203B41FA5}">
                      <a16:colId xmlns:a16="http://schemas.microsoft.com/office/drawing/2014/main" val="3175759206"/>
                    </a:ext>
                  </a:extLst>
                </a:gridCol>
                <a:gridCol w="6236028">
                  <a:extLst>
                    <a:ext uri="{9D8B030D-6E8A-4147-A177-3AD203B41FA5}">
                      <a16:colId xmlns:a16="http://schemas.microsoft.com/office/drawing/2014/main" val="3443784117"/>
                    </a:ext>
                  </a:extLst>
                </a:gridCol>
              </a:tblGrid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Dataset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Description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905923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Fund Master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Fund details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483118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NAV History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Historical NAV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37715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AUM Data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Assets Under Management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172575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SIP Inflows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Monthly SIP data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83189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Transactions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Investor activity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273935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Portfolio Holdings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Fund holdings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479337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Benchmark Data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Market indices</a:t>
                      </a:r>
                    </a:p>
                  </a:txBody>
                  <a:tcPr marL="119114" marR="119114" marT="59557" marB="595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521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0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Digital financial graph">
            <a:extLst>
              <a:ext uri="{FF2B5EF4-FFF2-40B4-BE49-F238E27FC236}">
                <a16:creationId xmlns:a16="http://schemas.microsoft.com/office/drawing/2014/main" id="{40E0F064-0FAE-1F20-37B8-8D7BC345D8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1A1036-8F1C-4DB4-BE72-D328F7E6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ETL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6482B-2CDB-8603-A0F8-99C8F9195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CSV Files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Extract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Data Cleaning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Transformation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SQLite Database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Python Analytics</a:t>
            </a:r>
          </a:p>
          <a:p>
            <a:pPr marL="0" indent="0">
              <a:buNone/>
            </a:pPr>
            <a:r>
              <a:rPr lang="en-IN" sz="2000">
                <a:solidFill>
                  <a:srgbClr val="FFFFFF"/>
                </a:solidFill>
              </a:rPr>
              <a:t>          ↓</a:t>
            </a:r>
          </a:p>
          <a:p>
            <a:r>
              <a:rPr lang="en-IN" sz="2000">
                <a:solidFill>
                  <a:srgbClr val="FFFFFF"/>
                </a:solidFill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88810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B14F96D-1704-78FD-731C-24E86FB2CA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A6B7-2A87-66B9-C7F3-9874DF37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pPr lvl="0" eaLnBrk="0" fontAlgn="base" hangingPunct="0">
              <a:spcAft>
                <a:spcPct val="0"/>
              </a:spcAft>
              <a:buFontTx/>
              <a:buChar char="•"/>
            </a:pPr>
            <a:r>
              <a:rPr lang="en-IN" sz="3400"/>
              <a:t>EDA Highlights – 1</a:t>
            </a:r>
            <a:br>
              <a:rPr lang="en-IN" sz="3400"/>
            </a:br>
            <a:r>
              <a:rPr lang="en-US" altLang="en-US" sz="3400">
                <a:latin typeface="Arial" panose="020B0604020202020204" pitchFamily="34" charset="0"/>
              </a:rPr>
              <a:t> </a:t>
            </a:r>
            <a:br>
              <a:rPr lang="en-US" altLang="en-US" sz="3400">
                <a:latin typeface="Arial" panose="020B0604020202020204" pitchFamily="34" charset="0"/>
              </a:rPr>
            </a:br>
            <a:endParaRPr lang="en-IN" sz="340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7A201DF-ABA4-6C8F-6856-CFAEEB176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risk generated higher returns.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Small-cap funds exhibited greater volatility.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Debt funds showed lower risk. </a:t>
            </a:r>
          </a:p>
        </p:txBody>
      </p:sp>
    </p:spTree>
    <p:extLst>
      <p:ext uri="{BB962C8B-B14F-4D97-AF65-F5344CB8AC3E}">
        <p14:creationId xmlns:p14="http://schemas.microsoft.com/office/powerpoint/2010/main" val="157009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188F07-FF66-5598-92F9-8DC5C861A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841BF-09C0-378A-8B10-37F5B1E9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EDA Highlights – 2</a:t>
            </a:r>
            <a:br>
              <a:rPr lang="en-IN" sz="4000"/>
            </a:br>
            <a:endParaRPr lang="en-IN" sz="40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7DDCA7C-9D10-5CC3-004C-C71E6AF91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Banking sector dominated allocations.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SIP inflows increased steadily.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Investor participation grew significantly.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EF241F-D92E-2F3B-06CA-810437B54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835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AC7585-022D-3016-A9C7-9680B59CE9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86FD7-3C6A-238A-D0C6-210491F9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Performance Analytics – 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2C6DEA-1173-35FD-749D-3D07D7CE1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ICICI Bluechip achieved highest CAGR.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Nippon Large Cap showed strong growth.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SBI Bluechip had comparatively lower returns. </a:t>
            </a:r>
          </a:p>
        </p:txBody>
      </p:sp>
    </p:spTree>
    <p:extLst>
      <p:ext uri="{BB962C8B-B14F-4D97-AF65-F5344CB8AC3E}">
        <p14:creationId xmlns:p14="http://schemas.microsoft.com/office/powerpoint/2010/main" val="145016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478E4-D219-BDAB-AC73-55C05326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92545-ACAE-DC68-6CC2-FFE7C721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Performance Analytics – 2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47A978-DB24-AD4D-5815-56F5A5B35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Sharpe Ratio indicates better risk-adjusted returns.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Drawdown analysis identifies downside risk.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Nippon Large Cap performed consistently. </a:t>
            </a:r>
          </a:p>
        </p:txBody>
      </p:sp>
    </p:spTree>
    <p:extLst>
      <p:ext uri="{BB962C8B-B14F-4D97-AF65-F5344CB8AC3E}">
        <p14:creationId xmlns:p14="http://schemas.microsoft.com/office/powerpoint/2010/main" val="57019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02963-19CA-DF3F-CE47-B0768BA98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07" r="708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E41BC-F9D4-B6D3-B659-DDF36AFD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Dashboard Overview – 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BAB6BC-2723-95AE-D0E8-F8F785D05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KPI Cards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CAGR Comparison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Fund Ranking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Performance Overview </a:t>
            </a:r>
          </a:p>
        </p:txBody>
      </p:sp>
    </p:spTree>
    <p:extLst>
      <p:ext uri="{BB962C8B-B14F-4D97-AF65-F5344CB8AC3E}">
        <p14:creationId xmlns:p14="http://schemas.microsoft.com/office/powerpoint/2010/main" val="391875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A3F77B-72C1-2EC5-6CFD-F636FBEBA2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C0DE-9163-276C-2FF7-B7E2C9D8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Dashboard Overview – 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0CABF53-6CCE-7F25-0F00-10F14A45C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IN" sz="2000"/>
              <a:t>Sharpe Ratio Analysis </a:t>
            </a:r>
          </a:p>
          <a:p>
            <a:r>
              <a:rPr lang="en-IN" sz="2000"/>
              <a:t>Drawdown Analysis </a:t>
            </a:r>
          </a:p>
          <a:p>
            <a:r>
              <a:rPr lang="en-IN" sz="2000"/>
              <a:t>Return Trends </a:t>
            </a:r>
          </a:p>
          <a:p>
            <a:r>
              <a:rPr lang="en-IN" sz="2000"/>
              <a:t>Fund Comparison 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4854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Digital financial graph">
            <a:extLst>
              <a:ext uri="{FF2B5EF4-FFF2-40B4-BE49-F238E27FC236}">
                <a16:creationId xmlns:a16="http://schemas.microsoft.com/office/drawing/2014/main" id="{970F6C43-FED7-5FDF-464F-35B4DB3BE6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EFBE76-6189-6F33-7424-EA8BAB30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27F7-04EC-7246-0571-F84C2F2EE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IN" sz="2000" b="1">
                <a:solidFill>
                  <a:srgbClr val="FFFFFF"/>
                </a:solidFill>
              </a:rPr>
              <a:t>Key Findings</a:t>
            </a:r>
          </a:p>
          <a:p>
            <a:r>
              <a:rPr lang="en-IN" sz="2000">
                <a:solidFill>
                  <a:srgbClr val="FFFFFF"/>
                </a:solidFill>
              </a:rPr>
              <a:t>SIP investments increased steadily. </a:t>
            </a:r>
          </a:p>
          <a:p>
            <a:r>
              <a:rPr lang="en-IN" sz="2000">
                <a:solidFill>
                  <a:srgbClr val="FFFFFF"/>
                </a:solidFill>
              </a:rPr>
              <a:t>Banking and IT sectors dominated holdings. </a:t>
            </a:r>
          </a:p>
          <a:p>
            <a:r>
              <a:rPr lang="en-IN" sz="2000">
                <a:solidFill>
                  <a:srgbClr val="FFFFFF"/>
                </a:solidFill>
              </a:rPr>
              <a:t>ICICI Bluechip and Nippon Large Cap were top performers. </a:t>
            </a:r>
          </a:p>
          <a:p>
            <a:r>
              <a:rPr lang="en-IN" sz="2000">
                <a:solidFill>
                  <a:srgbClr val="FFFFFF"/>
                </a:solidFill>
              </a:rPr>
              <a:t>Risk-adjusted metrics improved fund evaluation. </a:t>
            </a:r>
          </a:p>
          <a:p>
            <a:r>
              <a:rPr lang="en-IN" sz="2000" b="1">
                <a:solidFill>
                  <a:srgbClr val="FFFFFF"/>
                </a:solidFill>
              </a:rPr>
              <a:t>Recommendations</a:t>
            </a:r>
          </a:p>
          <a:p>
            <a:r>
              <a:rPr lang="en-IN" sz="2000">
                <a:solidFill>
                  <a:srgbClr val="FFFFFF"/>
                </a:solidFill>
              </a:rPr>
              <a:t>Focus on long-term investing. </a:t>
            </a:r>
          </a:p>
          <a:p>
            <a:r>
              <a:rPr lang="en-IN" sz="2000">
                <a:solidFill>
                  <a:srgbClr val="FFFFFF"/>
                </a:solidFill>
              </a:rPr>
              <a:t>Diversify across categories. </a:t>
            </a:r>
          </a:p>
          <a:p>
            <a:r>
              <a:rPr lang="en-IN" sz="2000">
                <a:solidFill>
                  <a:srgbClr val="FFFFFF"/>
                </a:solidFill>
              </a:rPr>
              <a:t>Monitor risk-adjusted performance. </a:t>
            </a:r>
          </a:p>
          <a:p>
            <a:r>
              <a:rPr lang="en-IN" sz="2000">
                <a:solidFill>
                  <a:srgbClr val="FFFFFF"/>
                </a:solidFill>
              </a:rPr>
              <a:t>Use dashboard insights for decision-making.</a:t>
            </a:r>
          </a:p>
          <a:p>
            <a:endParaRPr lang="en-IN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4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F3C5-FCB6-742C-2754-6889A2D6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3C71-F414-0244-CC87-1C54F5C67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>
                <a:solidFill>
                  <a:schemeClr val="tx2"/>
                </a:solidFill>
              </a:rPr>
              <a:t>Thank You</a:t>
            </a:r>
            <a:endParaRPr lang="en-IN" sz="9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59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327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Bluestock Mutual Fund Analytics: Performance, Risk Analysis and Business Intelligence Dashboard  </vt:lpstr>
      <vt:lpstr>Problem Statement &amp; Objectives</vt:lpstr>
      <vt:lpstr>Data Sources</vt:lpstr>
      <vt:lpstr>ETL Pipeline Architecture</vt:lpstr>
      <vt:lpstr>EDA Highlights – 1   </vt:lpstr>
      <vt:lpstr>EDA Highlights – 2 </vt:lpstr>
      <vt:lpstr>Performance Analytics – 1</vt:lpstr>
      <vt:lpstr>Performance Analytics – 2</vt:lpstr>
      <vt:lpstr>Dashboard Overview – 1</vt:lpstr>
      <vt:lpstr>Dashboard Overview – 2</vt:lpstr>
      <vt:lpstr>Key Findings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reshmajayasankar2007@outlook.com</dc:creator>
  <cp:lastModifiedBy>reshmajayasankar2007@outlook.com</cp:lastModifiedBy>
  <cp:revision>1</cp:revision>
  <dcterms:created xsi:type="dcterms:W3CDTF">2026-06-15T17:05:34Z</dcterms:created>
  <dcterms:modified xsi:type="dcterms:W3CDTF">2026-06-15T17:32:53Z</dcterms:modified>
</cp:coreProperties>
</file>